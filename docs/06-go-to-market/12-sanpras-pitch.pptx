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914400" y="1645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OVERVIEW PITCH · PREPARED FOR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Sanpras Healthcare Pvt. Ltd.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Nashik, Maharashtra · India · est. 2009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38404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WHO-GMP certified liquid-oral formulation manufacturer (non-beta-lactam) at MIDC Sinnar, Musalgaon. ~10,000 sq.ft. facility, 180 km from JNPT/Mumbai port — strong domestic + export footprint across pain-relief, antibiotic and cough-syrup formulations.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0B1838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5897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6172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Hawkeye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00800" y="61722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EQMS SaaS for pharma manufacturers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HAWKEYE · for Sanpras Healthcare Pvt. Ltd.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76895" y="45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What Hawkeye does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AI-native EQMS SaaS — full QMS in one place.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0972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63040"/>
            <a:ext cx="11277295" cy="118872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63040"/>
            <a:ext cx="73152" cy="1188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10820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Hawkeye is an AI-native EQMS SaaS for pharma manufacturers.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108200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Audit, deviation, CAPA, doc + change control, training, risk, complaints, MRM — in one platform — with built-in supplier collaboration and a vetted auditor / supplier marketplace.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926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54864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EQMS SaaS — your full QMS lives here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— your suppliers + auditors collaborate on the same record without you mailing PDFs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AI-first — agents draft, summarise, classify, pre-fill; humans approve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Marketplace-enabled — find qualified auditors / suppliers without leaving the system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29260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NOT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3200400"/>
            <a:ext cx="53035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custom-built ERP module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paper-replacement form-builder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audit-only point tool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HAWKEYE · for Sanpras Healthcare Pvt. Ltd.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76895" y="45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What Hawkeye does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Sanpras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0972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63040"/>
            <a:ext cx="5410048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63040"/>
            <a:ext cx="73152" cy="21945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600200"/>
            <a:ext cx="504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export-ready and WHO-GMP certified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2103120"/>
            <a:ext cx="504428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in regulated markets audit you frequently. A self-serve supplier portal means audits run on shared data — not over email.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24448" y="1463040"/>
            <a:ext cx="5410048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24448" y="1463040"/>
            <a:ext cx="73152" cy="21945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6553048" y="1600200"/>
            <a:ext cx="504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a contract manufacturer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53048" y="2103120"/>
            <a:ext cx="504428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QA team supports many SKUs across many buyers. Fill a PAQ once, share it — no more re-typing the same answers.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5410048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931920"/>
            <a:ext cx="73152" cy="21945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069080"/>
            <a:ext cx="504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growing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" y="4572000"/>
            <a:ext cx="504428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pricing fits — no infrastructure or in-house IT to host. Onboard one module, turn the rest on as you grow.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24448" y="3931920"/>
            <a:ext cx="5410048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24448" y="3931920"/>
            <a:ext cx="73152" cy="21945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6553048" y="4069080"/>
            <a:ext cx="504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to defend data integrity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553048" y="4572000"/>
            <a:ext cx="504428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regulator's #1 finding theme. Hawkeye's 21 CFR 11 + Annex 11 controls are built-in — not bolt-on.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HAWKEYE · for Sanpras Healthcare Pvt. Ltd.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76895" y="45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AI-native first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ships with at least one AI agent.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0972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112772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Hawkeye is AI-native: every module ships with at least one AI agent that drafts, summarises, classifies, or pre-fills work that a QA professional would otherwise do by hand. Humans always approve. Citations are mandatory. No black-box decisions.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11277295" cy="19202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3017520"/>
            <a:ext cx="73152" cy="1920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10896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compounding effect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520440"/>
            <a:ext cx="1082009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saves time on its own. The real win is the integrated record: a deviation auto-creates a CAPA, the CAPA auto-triggers a doc-control change, the change auto-assigns training, the training closes the loop in MRM.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4572000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· one audit trail · one set of citations.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53035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10 modules — Today (manual) → With Hawkeye AI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HAWKEYE · for Sanpras Healthcare Pvt. Ltd.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76895" y="45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AI-native first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Audit Management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0972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63040"/>
            <a:ext cx="5455768" cy="310896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463040"/>
            <a:ext cx="54864" cy="31089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554480"/>
            <a:ext cx="5181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(MANUAL)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5181448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manually drafts each observation in Word, copy-pastes evidence, formats CFR refs.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78728" y="1463040"/>
            <a:ext cx="5455768" cy="310896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12" name="Shape 10"/>
          <p:cNvSpPr/>
          <p:nvPr/>
        </p:nvSpPr>
        <p:spPr>
          <a:xfrm>
            <a:off x="6278728" y="1463040"/>
            <a:ext cx="54864" cy="31089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6461608" y="1554480"/>
            <a:ext cx="5181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HAWKEYE AI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61608" y="1920240"/>
            <a:ext cx="5181448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 citation-traced observations from evidence + linked questions — auditor edits, signs.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846320"/>
            <a:ext cx="11277295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937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TIME / $$ SAVED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5212080"/>
            <a:ext cx="54557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audit: 6–10 hrs of report drafting → ~1 hr review.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87288" y="4937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REGULATORY BASIS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87288" y="5212080"/>
            <a:ext cx="54557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Q9(R1) + 21 CFR 211 — drafting only, citations mandatory.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HAWKEYE · for Sanpras Healthcare Pvt. Ltd.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76895" y="45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AI-native first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Deviation / Event Management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0972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63040"/>
            <a:ext cx="5455768" cy="310896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463040"/>
            <a:ext cx="54864" cy="31089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554480"/>
            <a:ext cx="5181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(MANUAL)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5181448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Investigators type 5-why trees from scratch; root-cause clustering relies on memory.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78728" y="1463040"/>
            <a:ext cx="5455768" cy="310896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12" name="Shape 10"/>
          <p:cNvSpPr/>
          <p:nvPr/>
        </p:nvSpPr>
        <p:spPr>
          <a:xfrm>
            <a:off x="6278728" y="1463040"/>
            <a:ext cx="54864" cy="31089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6461608" y="1554480"/>
            <a:ext cx="5181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HAWKEYE AI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61608" y="1920240"/>
            <a:ext cx="5181448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suggests 5-why branches, finds similar past deviations, drafts the investigation summary.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846320"/>
            <a:ext cx="11277295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937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TIME / $$ SAVED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5212080"/>
            <a:ext cx="54557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investigation: 3–5 hrs saved. Repeat-finding detection → 30 % fewer recurring CAPAs.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87288" y="4937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REGULATORY BASIS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87288" y="5212080"/>
            <a:ext cx="54557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Q10 §3.2.2 — uses controlled history + flags repeats.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HAWKEYE · for Sanpras Healthcare Pvt. Ltd.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76895" y="45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AI-native first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 CAPA Management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0972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63040"/>
            <a:ext cx="5455768" cy="310896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463040"/>
            <a:ext cx="54864" cy="31089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554480"/>
            <a:ext cx="5181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(MANUAL)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5181448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owners write generic action plans; effectiveness checks slip.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78728" y="1463040"/>
            <a:ext cx="5455768" cy="310896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12" name="Shape 10"/>
          <p:cNvSpPr/>
          <p:nvPr/>
        </p:nvSpPr>
        <p:spPr>
          <a:xfrm>
            <a:off x="6278728" y="1463040"/>
            <a:ext cx="54864" cy="31089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6461608" y="1554480"/>
            <a:ext cx="5181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HAWKEYE AI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61608" y="1920240"/>
            <a:ext cx="5181448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 CAPA RCA, suggests target dates, monitors effectiveness signals across batches.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846320"/>
            <a:ext cx="11277295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937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TIME / $$ SAVED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5212080"/>
            <a:ext cx="54557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cycle: 60 → ~30 days. Effectiveness compliance: +35 %.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87288" y="4937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REGULATORY BASIS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87288" y="5212080"/>
            <a:ext cx="54557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CFR 820.100 + ICH Q10.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HAWKEYE · for Sanpras Healthcare Pvt. Ltd.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76895" y="45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AI-native first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Document + Change Control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0972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63040"/>
            <a:ext cx="5455768" cy="310896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463040"/>
            <a:ext cx="54864" cy="31089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554480"/>
            <a:ext cx="5181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(MANUAL)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5181448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SOPs reviewed annually; change-impact analysis done by hand on a checklist.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78728" y="1463040"/>
            <a:ext cx="5455768" cy="310896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12" name="Shape 10"/>
          <p:cNvSpPr/>
          <p:nvPr/>
        </p:nvSpPr>
        <p:spPr>
          <a:xfrm>
            <a:off x="6278728" y="1463040"/>
            <a:ext cx="54864" cy="31089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6461608" y="1554480"/>
            <a:ext cx="5181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HAWKEYE AI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61608" y="1920240"/>
            <a:ext cx="5181448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flags SOPs out-of-step with new regs (FDA / EU GMP / ICH); drafts change-control impact.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846320"/>
            <a:ext cx="11277295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937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TIME / $$ SAVED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5212080"/>
            <a:ext cx="54557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SOP-update lag: months → days. One missed update averted = one observation prevented.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87288" y="4937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REGULATORY BASIS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87288" y="5212080"/>
            <a:ext cx="54557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CFR 211.100 / 211.180 + EU GMP Ch. 4.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HAWKEYE · for Sanpras Healthcare Pvt. Ltd.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76895" y="45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AI-native first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Training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0972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63040"/>
            <a:ext cx="5455768" cy="310896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463040"/>
            <a:ext cx="54864" cy="31089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554480"/>
            <a:ext cx="5181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(MANUAL)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5181448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manually assigns training when SOPs change; misses 5–10 % of affected staff.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78728" y="1463040"/>
            <a:ext cx="5455768" cy="310896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12" name="Shape 10"/>
          <p:cNvSpPr/>
          <p:nvPr/>
        </p:nvSpPr>
        <p:spPr>
          <a:xfrm>
            <a:off x="6278728" y="1463040"/>
            <a:ext cx="54864" cy="31089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6461608" y="1554480"/>
            <a:ext cx="5181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HAWKEYE AI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61608" y="1920240"/>
            <a:ext cx="5181448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auto-assigns training on SOP / role / equipment changes — closes loop with quiz scoring.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846320"/>
            <a:ext cx="11277295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937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TIME / $$ SAVED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5212080"/>
            <a:ext cx="54557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time: −60 %. Training-gap audit findings: typically zero.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87288" y="4937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REGULATORY BASIS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87288" y="5212080"/>
            <a:ext cx="54557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CFR 211.25 + EU GMP Ch. 2.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HAWKEYE · for Sanpras Healthcare Pvt. Ltd.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76895" y="45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AI-native first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Risk Management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0972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63040"/>
            <a:ext cx="5455768" cy="310896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463040"/>
            <a:ext cx="54864" cy="31089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554480"/>
            <a:ext cx="5181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(MANUAL)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5181448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FMEA / ICH Q9 done in Excel once a year; rarely refreshed.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78728" y="1463040"/>
            <a:ext cx="5455768" cy="310896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12" name="Shape 10"/>
          <p:cNvSpPr/>
          <p:nvPr/>
        </p:nvSpPr>
        <p:spPr>
          <a:xfrm>
            <a:off x="6278728" y="1463040"/>
            <a:ext cx="54864" cy="31089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6461608" y="1554480"/>
            <a:ext cx="5181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HAWKEYE AI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61608" y="1920240"/>
            <a:ext cx="5181448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brainstorms scenarios, scores severity / occurrence / detectability, links risks to CAPAs.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846320"/>
            <a:ext cx="11277295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937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TIME / $$ SAVED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5212080"/>
            <a:ext cx="54557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Risk-review cycle: 1×/yr → continuous. Material risk surfaced ~90 days earlier.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87288" y="4937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REGULATORY BASIS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87288" y="5212080"/>
            <a:ext cx="54557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Q9(R1).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HAWKEYE · for Sanpras Healthcare Pvt. Ltd.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76895" y="45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AI-native first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Complaints + Recall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0972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63040"/>
            <a:ext cx="5455768" cy="310896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463040"/>
            <a:ext cx="54864" cy="31089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554480"/>
            <a:ext cx="5181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(MANUAL)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5181448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triaged manually; clustering across batches missed.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78728" y="1463040"/>
            <a:ext cx="5455768" cy="310896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12" name="Shape 10"/>
          <p:cNvSpPr/>
          <p:nvPr/>
        </p:nvSpPr>
        <p:spPr>
          <a:xfrm>
            <a:off x="6278728" y="1463040"/>
            <a:ext cx="54864" cy="31089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6461608" y="1554480"/>
            <a:ext cx="5181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HAWKEYE AI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61608" y="1920240"/>
            <a:ext cx="5181448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triages severity, clusters similar complaints, surfaces possible recall trigger.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846320"/>
            <a:ext cx="11277295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937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TIME / $$ SAVED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5212080"/>
            <a:ext cx="54557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time: −70 %. Recall decisions surfaced ~2 weeks earlier on average.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87288" y="4937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REGULATORY BASIS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87288" y="5212080"/>
            <a:ext cx="54557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CFR 211.198 + EU GMP Ch. 8.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HAWKEYE · for Sanpras Healthcare Pvt. Ltd.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76895" y="45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AI-native first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Supplier Quality + Audit (collab + marketplace)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0972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63040"/>
            <a:ext cx="5455768" cy="310896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463040"/>
            <a:ext cx="54864" cy="31089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554480"/>
            <a:ext cx="5181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(MANUAL)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5181448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Pre-audit questionnaires emailed as Word docs; supplier responses re-typed; finding lists in Excel.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78728" y="1463040"/>
            <a:ext cx="5455768" cy="310896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12" name="Shape 10"/>
          <p:cNvSpPr/>
          <p:nvPr/>
        </p:nvSpPr>
        <p:spPr>
          <a:xfrm>
            <a:off x="6278728" y="1463040"/>
            <a:ext cx="54864" cy="31089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6461608" y="1554480"/>
            <a:ext cx="5181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HAWKEYE AI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61608" y="1920240"/>
            <a:ext cx="5181448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fills the PAQ in-product — AI pre-fills from prior submissions; buyer + supplier + auditor see same live record.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846320"/>
            <a:ext cx="11277295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937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TIME / $$ SAVED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5212080"/>
            <a:ext cx="54557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prep: 2–3 weeks → ~3 days. Supplier qualification cycle: 50 % shorter.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87288" y="4937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REGULATORY BASIS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87288" y="5212080"/>
            <a:ext cx="54557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Q7 §17 + EU GMP Ch. 7.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HAWKEYE · for Sanpras Healthcare Pvt. Ltd.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76895" y="45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AI-native first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Management Review (MRM)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0972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63040"/>
            <a:ext cx="5455768" cy="310896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463040"/>
            <a:ext cx="54864" cy="31089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554480"/>
            <a:ext cx="5181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(MANUAL)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5181448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prepares MRM inputs by hand from 6 systems; quarterly cycle stretches a fortnight.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78728" y="1463040"/>
            <a:ext cx="5455768" cy="310896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12" name="Shape 10"/>
          <p:cNvSpPr/>
          <p:nvPr/>
        </p:nvSpPr>
        <p:spPr>
          <a:xfrm>
            <a:off x="6278728" y="1463040"/>
            <a:ext cx="54864" cy="31089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6461608" y="1554480"/>
            <a:ext cx="5181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HAWKEYE AI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61608" y="1920240"/>
            <a:ext cx="5181448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auto-aggregates KPIs, deviations, audits, CAPAs, complaints, risks → MRM deck in one click.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846320"/>
            <a:ext cx="11277295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937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TIME / $$ SAVED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5212080"/>
            <a:ext cx="54557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MRM prep: 2 weeks → 1 day. Continuous KPI view between meetings.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87288" y="4937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REGULATORY BASIS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87288" y="5212080"/>
            <a:ext cx="54557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Q10 §4 + EU GMP Ch. 1.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HAWKEYE · for Sanpras Healthcare Pvt. Ltd.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76895" y="45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AI-native first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Regulatory Intelligence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0972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63040"/>
            <a:ext cx="5455768" cy="310896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463040"/>
            <a:ext cx="54864" cy="31089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554480"/>
            <a:ext cx="5181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(MANUAL)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5181448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Reg-affairs reads FDA / EMA / CDSCO bulletins; manually maps to internal SOPs.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78728" y="1463040"/>
            <a:ext cx="5455768" cy="310896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12" name="Shape 10"/>
          <p:cNvSpPr/>
          <p:nvPr/>
        </p:nvSpPr>
        <p:spPr>
          <a:xfrm>
            <a:off x="6278728" y="1463040"/>
            <a:ext cx="54864" cy="31089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6461608" y="1554480"/>
            <a:ext cx="5181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HAWKEYE AI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61608" y="1920240"/>
            <a:ext cx="5181448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watches warning letters, EU GMP updates, ICH revisions; flags relevant to YOUR products + sites.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846320"/>
            <a:ext cx="11277295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937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TIME / $$ SAVED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5212080"/>
            <a:ext cx="54557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react to a new reg: months → days. Surprise findings: ↓ materially.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87288" y="4937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REGULATORY BASIS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87288" y="5212080"/>
            <a:ext cx="54557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regulatory horizon-scanning.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HAWKEYE · for Sanpras Healthcare Pvt. Ltd.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76895" y="45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The marketplace layer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without the cold-email tax.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0972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112772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two-sided opt-in network on top of the EQMS. Buyers find qualified CMOs. CMOs find independent third-party auditors. All vetted. All on-platform.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3657600" cy="201168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companies looking for qualified CMOs (like Sanpras) and independent third-party auditors.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76895" y="2926080"/>
            <a:ext cx="3657600" cy="201168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76895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 + AUDITORS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59775" y="338328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CMOs publish profiles built from real QMS data. Auditors publish credentials, COI, calendar, rate cards.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98568" y="3291840"/>
            <a:ext cx="2194560" cy="12801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98568" y="342900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HAWKEYE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0" y="3931920"/>
            <a:ext cx="128016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headEnd type="triangl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193128" y="3931920"/>
            <a:ext cx="128016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headEnd type="triangl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457200" y="521208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 per tenant · per record. Trust signals computed from real Hawkeye activity.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HAWKEYE · for Sanpras Healthcare Pvt. Ltd.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76895" y="45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The marketplace layer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supplier — be discoverable to global buyers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0972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11277295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WHO-GMP cert, inspection history, product portfolio + capacity → one live profile that updates from your QMS.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searching Nashik / India / liquid-oral / WHO-GMP CMOs see you ranked by relevance + audit-readiness signals.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RFQs and audit-intimation requests land directly in your QA inbox — no cold-email triage.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21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HAWKEYE · for Sanpras Healthcare Pvt. Ltd.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76895" y="45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The marketplace layer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buyer of audits — find qualified third-party auditors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0972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11277295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from a vetted pool: filter by region, therapeutic expertise, language, certifications (ASQ CQA, IRCA, BSI).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 declarations, qualification status, calendar availability, rate cards visible BEFORE you assign — not negotiated over email.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Engagement, scoping, scheduling, audit itself — all in the same record. No SOW exchange, no parallel tools.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21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HAWKEYE · for Sanpras Healthcare Pvt. Ltd.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76895" y="45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The marketplace layer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network compounds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0972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11277295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completed audit anonymously enriches benchmarks — observation counts, CAPA-cycle times — so QA leadership sees where you stand without paying a consultancy.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signals (on-time CAPA closure rate, audit-readiness score) are computed from real Hawkeye activity. Reusable proof for any new buyer.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21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HAWKEYE · for Sanpras Healthcare Pvt. Ltd.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76895" y="45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The marketplace layer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— because we know you'll ask.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0972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28800"/>
            <a:ext cx="3454298" cy="320040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28800"/>
            <a:ext cx="3454298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31520" y="2651760"/>
            <a:ext cx="290565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 only. Data never appears in the marketplace unless you explicitly publish a profile or accept a request.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68698" y="1828800"/>
            <a:ext cx="3454298" cy="320040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68698" y="1828800"/>
            <a:ext cx="3454298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4643018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43018" y="2651760"/>
            <a:ext cx="290565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trade-secret leakage. Marketplace profiles surface what you choose; the audit record itself stays bilateral.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80197" y="1828800"/>
            <a:ext cx="3454298" cy="320040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80197" y="1828800"/>
            <a:ext cx="3454298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8554517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554517" y="2651760"/>
            <a:ext cx="290565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Walk-away clean. Off-board your tenant → marketplace profile removed; private QMS data exports cleanly.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21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HAWKEYE · for Sanpras Healthcare Pvt. Ltd.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76895" y="45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21 CFR Part 11 + Annex 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Built-in, not bolt-on.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0972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evidence pack covers BOTH 21 CFR Part 11 (US) and Annex 11 (EU) — you don't pay twice when you expand markets.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1127729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534095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HAWKEYE IMPLEMENTS 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 signatures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Username + password + reason-for-signing on every controlled action. Optional 2nd-factor / biometric.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trail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create/update/delete records who, what, when, old → new value, and reason. Immutable, append-only.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Time-stamped records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Server-side UTC timestamps on every event; tamper-evident hashes per record.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control (RBAC)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+ module + record-level permissions. Periodic access-rights review built in.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validation (CSV)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IQ / OQ / PQ documentation pack delivered with every tenant. Test scripts run on each release.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integrity (ALCOA+)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Attributable, Legible, Contemporaneous, Original, Accurate + Complete, Consistent, Enduring, Available.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 + recovery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encrypted snapshots, 30-day point-in-time recovery, geo-redundant storage.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Annex 11 (EU GMP)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Equivalent controls. Same evidence pack covers both 21 CFR 11 + Annex 11.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HAWKEYE · for Sanpras Healthcare Pvt. Ltd.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76895" y="45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Privacy + security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QMS data is your most sensitive operational data.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0972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729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985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Tenant isolation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tenant scoping at every query layer. No data crosses tenant boundaries (validated in our own pen tests).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Encryption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TLS 1.3 in transit. AES-256 at rest. KMS-managed keys with rotation.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+ password + 2FA. SSO (SAML / OIDC) for enterprise. bcrypt password hashing.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Pen-testing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third-party VAPT. Critical / High findings closed before customer release.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Standards alignment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 2 Type II controls. ISO 27001 mapped. GDPR + India DPDP Act ready.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/ Vercel — inherits CSP physical + network security. Data-residency: India, EU, US.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 response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On-call 24×7. Customer notification within 24 h of any confirmed incident.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export + deletion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Self-serve full export of your tenant data. On-request deletion with proof of erasure.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5577840"/>
            <a:ext cx="11277295" cy="82296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669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DPDP ACT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598932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fiduciary obligations met — purpose limitation, consent records, breach reporting workflow, data-subject rights endpoints. Optional India-only data residency.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Hawkeye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Hawkeye — for Sanpras Healthcare Pvt. Ltd.</dc:title>
  <dc:subject>PptxGenJS Presentation</dc:subject>
  <dc:creator>Hawkeye</dc:creator>
  <cp:lastModifiedBy>Hawkeye</cp:lastModifiedBy>
  <cp:revision>1</cp:revision>
  <dcterms:created xsi:type="dcterms:W3CDTF">2026-04-30T11:22:24Z</dcterms:created>
  <dcterms:modified xsi:type="dcterms:W3CDTF">2026-04-30T11:22:24Z</dcterms:modified>
</cp:coreProperties>
</file>